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58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114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A7FF2-D2FD-4CA6-AD73-7BE69FED8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34513E-4558-4D55-BDD5-66490850A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F312EC-84C6-4A4F-8E85-8547306D0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D4A7B-98E2-4385-A876-A1A080D479E5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BC2CD7-688E-47A2-8079-B5FB64913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6AD64-F9A3-4CAB-90B5-3F7C1A82C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81FB9-7F28-4A6C-92E0-2EBD95E3E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709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92C5D-16A4-486A-A08F-318C1EB69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2BCB0-A1CB-470F-8F9F-E7F03D3117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B0048-2A46-47B8-AE04-43BFE2EAD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D4A7B-98E2-4385-A876-A1A080D479E5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B702E-2F0E-4DF8-A32C-E47E7E9DD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F9360F-2367-4D1C-9659-64B8EC979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81FB9-7F28-4A6C-92E0-2EBD95E3E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124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BDFCC-E9BB-4EA2-B30F-A785ABDA0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F2770F-C01B-4195-87C4-702D4CFF3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77E56-4713-4C34-B8C4-BC643CD3C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D4A7B-98E2-4385-A876-A1A080D479E5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A7B518-CE81-49F9-A429-FD72BB75E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385B8B-6C6E-42DA-A3CB-D95C68DAF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81FB9-7F28-4A6C-92E0-2EBD95E3E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962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73635-5DFA-476B-AA75-843F205CC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5FF1A-5DB1-4EFD-BE65-7CE6C35A3B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B4A81A-B782-42BB-9E09-C62C3F6142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E2C23D-64D8-439F-8B60-8124E8B87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D4A7B-98E2-4385-A876-A1A080D479E5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7E98AB-CAC9-4DE1-9183-88873DD09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019E15-0216-497C-AA69-B22D42107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81FB9-7F28-4A6C-92E0-2EBD95E3E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766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63918-BDFC-4524-9474-2E23DA8AB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227688-40A9-4970-A666-DD9AD76DD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FDE0D1-E9C1-4169-B89B-098D21507A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337392-8215-4BA5-9F2E-87C14484ED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159A7C-65E2-4009-9E61-E428789087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6B750D-E8DC-48CD-A2E6-9ABDA061C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D4A7B-98E2-4385-A876-A1A080D479E5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1895B8-85FF-4935-93B7-DE4D8C9F7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CC91C0-248C-44E6-B464-3D5438C0C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81FB9-7F28-4A6C-92E0-2EBD95E3E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32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E64A6-CB8B-48BE-8D56-56C2C52C3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509406-7340-4F5C-A8A1-476EBCD0E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D4A7B-98E2-4385-A876-A1A080D479E5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E85C56-41C2-44E5-9356-97F5AACCE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9F6D0F-0B06-4BF5-8E03-7E73A0D9B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81FB9-7F28-4A6C-92E0-2EBD95E3E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193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FC32E3-D3B3-44EF-90CC-C83D71FD8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D4A7B-98E2-4385-A876-A1A080D479E5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5C8BA8-21B6-4D59-A1F3-A2537EFB8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C64213-F559-42B0-A345-127CD8130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81FB9-7F28-4A6C-92E0-2EBD95E3E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232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427D0-6EEC-4DE0-958A-E41724B4B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D2D65-1AE8-4FE1-8898-509F833722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D713D7-496A-420B-930A-CDF9C36ED0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96FF36-46EC-4D4F-98AE-F742E87D9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D4A7B-98E2-4385-A876-A1A080D479E5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943337-0839-4A1E-B667-DD188525D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B9134F-4D45-4BAA-A2BC-E58137BB2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81FB9-7F28-4A6C-92E0-2EBD95E3E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169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32FB7-E18D-4D26-9A20-E297123B0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CCB8B0-FFCB-43F8-816F-ED83CE2053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7E3B11-E15D-4B94-A3CE-529BA665E7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903721-79EE-435C-842C-800D2D216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D4A7B-98E2-4385-A876-A1A080D479E5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7FBBEA-7EDC-4A88-B6A3-E78617E22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04BE5A-C767-4A48-8638-0EDDDB6FF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81FB9-7F28-4A6C-92E0-2EBD95E3E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551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6FF02-6485-4927-ADB7-D18A97EB4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C95A32-6E03-4D34-BDF6-53F13A3BC3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C7FBD6-9220-40E1-8AD8-5E371AF23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D4A7B-98E2-4385-A876-A1A080D479E5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C3AD9-98E8-429D-A6FC-C0A8CD29C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856DD-4318-4A3E-9F97-A710A2A16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81FB9-7F28-4A6C-92E0-2EBD95E3E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660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6B2C1F-0826-48F0-A7D1-92B6D5E181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B9C5E-31F4-417E-BC81-A77554A4A0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C8897-C7AB-426E-A1E0-54DCF563F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D4A7B-98E2-4385-A876-A1A080D479E5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142AD3-D0D0-4910-866A-C2A35A8B9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FBC941-B254-4A13-9025-1EF4E065F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81FB9-7F28-4A6C-92E0-2EBD95E3E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517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3C7E92-0D0D-4363-BEF6-67C785A67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560DFA-E8E7-487C-8FA6-1662FD92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4F4EA6-1ACA-4DF0-961E-5605BB165A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ED4A7B-98E2-4385-A876-A1A080D479E5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5E3F2-33D0-401D-8244-A31C53807E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221D0-D68A-4E00-8239-21E4E0C11F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681FB9-7F28-4A6C-92E0-2EBD95E3E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977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5C1D5-4630-447E-9149-E42DA6DA89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CADD training cohort-3 Assignment-2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B6A690-A487-4C06-BAAE-51EB58F6C1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Priyanka Rajan</a:t>
            </a:r>
          </a:p>
          <a:p>
            <a:r>
              <a:rPr lang="en-US" dirty="0"/>
              <a:t>4/17/26</a:t>
            </a:r>
          </a:p>
        </p:txBody>
      </p:sp>
    </p:spTree>
    <p:extLst>
      <p:ext uri="{BB962C8B-B14F-4D97-AF65-F5344CB8AC3E}">
        <p14:creationId xmlns:p14="http://schemas.microsoft.com/office/powerpoint/2010/main" val="3409509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D0978-8042-44AA-96DC-BA39BB90B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701" y="18256"/>
            <a:ext cx="10515600" cy="662781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Task-1 Drug likeness scoring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7CA73E82-F9B6-4ECA-83D4-0A6411930A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0881423"/>
              </p:ext>
            </p:extLst>
          </p:nvPr>
        </p:nvGraphicFramePr>
        <p:xfrm>
          <a:off x="1171575" y="850423"/>
          <a:ext cx="10391776" cy="1503189"/>
        </p:xfrm>
        <a:graphic>
          <a:graphicData uri="http://schemas.openxmlformats.org/drawingml/2006/table">
            <a:tbl>
              <a:tblPr firstRow="1" firstCol="1" bandRow="1"/>
              <a:tblGrid>
                <a:gridCol w="2043269">
                  <a:extLst>
                    <a:ext uri="{9D8B030D-6E8A-4147-A177-3AD203B41FA5}">
                      <a16:colId xmlns:a16="http://schemas.microsoft.com/office/drawing/2014/main" val="1738516006"/>
                    </a:ext>
                  </a:extLst>
                </a:gridCol>
                <a:gridCol w="1909115">
                  <a:extLst>
                    <a:ext uri="{9D8B030D-6E8A-4147-A177-3AD203B41FA5}">
                      <a16:colId xmlns:a16="http://schemas.microsoft.com/office/drawing/2014/main" val="906308053"/>
                    </a:ext>
                  </a:extLst>
                </a:gridCol>
                <a:gridCol w="6439392">
                  <a:extLst>
                    <a:ext uri="{9D8B030D-6E8A-4147-A177-3AD203B41FA5}">
                      <a16:colId xmlns:a16="http://schemas.microsoft.com/office/drawing/2014/main" val="2070943026"/>
                    </a:ext>
                  </a:extLst>
                </a:gridCol>
              </a:tblGrid>
              <a:tr h="32115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Compound Name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PubChem CID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SMILES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7937416"/>
                  </a:ext>
                </a:extLst>
              </a:tr>
              <a:tr h="37508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Coumarin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323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111827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C1=CC=C2C(=C1)C=CC(=O)O2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7403401"/>
                  </a:ext>
                </a:extLst>
              </a:tr>
              <a:tr h="36187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Geraniol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637566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111827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CC(=CCC/C(=C/CO)/C)C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9132351"/>
                  </a:ext>
                </a:extLst>
              </a:tr>
              <a:tr h="44508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Galantamine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9651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 CN1CC[C@@]23C=C[C@@H](C[C@@H]2OC4=C(C=CC(=C34)C1)OC)O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230138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068E276-2BEB-4D9C-B20F-BAE3324455CA}"/>
              </a:ext>
            </a:extLst>
          </p:cNvPr>
          <p:cNvSpPr txBox="1"/>
          <p:nvPr/>
        </p:nvSpPr>
        <p:spPr>
          <a:xfrm>
            <a:off x="634116" y="2505670"/>
            <a:ext cx="110187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These compounds are probable candidates for binding to Alzheimer’s protein Beta-secretase. Their PubChem CID and SMILES was retrieved from PubChem. Further their chemical structure was downloaded in the SDF format and opened in </a:t>
            </a:r>
            <a:r>
              <a:rPr lang="en-US" dirty="0" err="1"/>
              <a:t>SwissADME</a:t>
            </a:r>
            <a:r>
              <a:rPr lang="en-US" dirty="0"/>
              <a:t> software to determine drug-likeness. All 3 </a:t>
            </a:r>
            <a:r>
              <a:rPr lang="en-US" dirty="0" err="1"/>
              <a:t>compunds</a:t>
            </a:r>
            <a:r>
              <a:rPr lang="en-US" dirty="0"/>
              <a:t> showed no violation of Lipinski score.</a:t>
            </a:r>
          </a:p>
        </p:txBody>
      </p:sp>
    </p:spTree>
    <p:extLst>
      <p:ext uri="{BB962C8B-B14F-4D97-AF65-F5344CB8AC3E}">
        <p14:creationId xmlns:p14="http://schemas.microsoft.com/office/powerpoint/2010/main" val="222189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C89F84F-786F-467A-889F-033DB893B5BD}"/>
              </a:ext>
            </a:extLst>
          </p:cNvPr>
          <p:cNvSpPr txBox="1">
            <a:spLocks/>
          </p:cNvSpPr>
          <p:nvPr/>
        </p:nvSpPr>
        <p:spPr>
          <a:xfrm>
            <a:off x="838200" y="146050"/>
            <a:ext cx="10515600" cy="53498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Coumarin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18F6A0-BE04-47B3-9D5B-8E29C1DA17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8350" y="558734"/>
            <a:ext cx="8278048" cy="6299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1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2D64879-E44E-4C73-8CB1-AAA3FF82A39D}"/>
              </a:ext>
            </a:extLst>
          </p:cNvPr>
          <p:cNvSpPr txBox="1">
            <a:spLocks/>
          </p:cNvSpPr>
          <p:nvPr/>
        </p:nvSpPr>
        <p:spPr>
          <a:xfrm>
            <a:off x="838200" y="146050"/>
            <a:ext cx="10515600" cy="53498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Galantamine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E6FF67-195B-48FC-91A5-25A1559FC7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8069" y="506183"/>
            <a:ext cx="8415862" cy="6435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270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5DB94-3F74-49D4-88F6-C36666B3F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6050"/>
            <a:ext cx="10515600" cy="534987"/>
          </a:xfrm>
        </p:spPr>
        <p:txBody>
          <a:bodyPr>
            <a:normAutofit/>
          </a:bodyPr>
          <a:lstStyle/>
          <a:p>
            <a:r>
              <a:rPr lang="en-US" sz="2800" dirty="0"/>
              <a:t>Geraniol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A06E5-C1D7-43AD-8906-3DC546E685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C09AB8-4C93-445C-8345-DC31589ADC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604776"/>
            <a:ext cx="8214344" cy="6253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218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1FAF3-012F-416C-B987-35E570BEC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4613"/>
            <a:ext cx="10515600" cy="606424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Task-2 Molecular docking and Visualization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C1BAFAE-C843-403C-B8A7-47956752FB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5343855"/>
              </p:ext>
            </p:extLst>
          </p:nvPr>
        </p:nvGraphicFramePr>
        <p:xfrm>
          <a:off x="2333625" y="866616"/>
          <a:ext cx="7364837" cy="1311186"/>
        </p:xfrm>
        <a:graphic>
          <a:graphicData uri="http://schemas.openxmlformats.org/drawingml/2006/table">
            <a:tbl>
              <a:tblPr/>
              <a:tblGrid>
                <a:gridCol w="1233006">
                  <a:extLst>
                    <a:ext uri="{9D8B030D-6E8A-4147-A177-3AD203B41FA5}">
                      <a16:colId xmlns:a16="http://schemas.microsoft.com/office/drawing/2014/main" val="2710009408"/>
                    </a:ext>
                  </a:extLst>
                </a:gridCol>
                <a:gridCol w="2276318">
                  <a:extLst>
                    <a:ext uri="{9D8B030D-6E8A-4147-A177-3AD203B41FA5}">
                      <a16:colId xmlns:a16="http://schemas.microsoft.com/office/drawing/2014/main" val="1204022078"/>
                    </a:ext>
                  </a:extLst>
                </a:gridCol>
                <a:gridCol w="1522287">
                  <a:extLst>
                    <a:ext uri="{9D8B030D-6E8A-4147-A177-3AD203B41FA5}">
                      <a16:colId xmlns:a16="http://schemas.microsoft.com/office/drawing/2014/main" val="2110125261"/>
                    </a:ext>
                  </a:extLst>
                </a:gridCol>
                <a:gridCol w="1422699">
                  <a:extLst>
                    <a:ext uri="{9D8B030D-6E8A-4147-A177-3AD203B41FA5}">
                      <a16:colId xmlns:a16="http://schemas.microsoft.com/office/drawing/2014/main" val="1571905343"/>
                    </a:ext>
                  </a:extLst>
                </a:gridCol>
                <a:gridCol w="910527">
                  <a:extLst>
                    <a:ext uri="{9D8B030D-6E8A-4147-A177-3AD203B41FA5}">
                      <a16:colId xmlns:a16="http://schemas.microsoft.com/office/drawing/2014/main" val="3024146680"/>
                    </a:ext>
                  </a:extLst>
                </a:gridCol>
              </a:tblGrid>
              <a:tr h="314484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Name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Ligand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Target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Binding Energy kcal/mol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Info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81282662"/>
                  </a:ext>
                </a:extLst>
              </a:tr>
              <a:tr h="271327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Coumarin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323_mmff94_E=33.85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5QCU_dockprep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Vina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07458651"/>
                  </a:ext>
                </a:extLst>
              </a:tr>
              <a:tr h="271327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Galantamine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9651_mmff94_E=69.95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5QCU_dockprep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Vina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72898266"/>
                  </a:ext>
                </a:extLst>
              </a:tr>
              <a:tr h="271327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Geraniol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637566_mmff94_E=17.24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5QCU_dockprep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Vina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7499084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26E9A4A-ED4F-4BE7-910E-E20AE087AA06}"/>
              </a:ext>
            </a:extLst>
          </p:cNvPr>
          <p:cNvSpPr txBox="1"/>
          <p:nvPr/>
        </p:nvSpPr>
        <p:spPr>
          <a:xfrm>
            <a:off x="914400" y="2775568"/>
            <a:ext cx="993701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Docking gives a numerical value which represents the binding affinity between the ligand and protein. </a:t>
            </a:r>
            <a:r>
              <a:rPr lang="en-US" dirty="0" err="1"/>
              <a:t>PyRx</a:t>
            </a:r>
            <a:r>
              <a:rPr lang="en-US" dirty="0"/>
              <a:t> calculates binding energy in kcal/mol. It measures the Gibbs free energy of binding, which is the amount of energy released when the ligand binds to the protein. Since it is energy released, it has a negative sign. The lower the value, the lower the energy required for binding and the stronger the affinity.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-9.0 kcal/mol: very strong binding suggesting a high affinity hit for further investigation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-7.0 to -8.0 kcal/mol: Good binding. Most drug-like molecules are in this range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-5.0 to -6.0 kcal/mol: Moderate binding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-4.0 kcal/mol: Very weak or no binding</a:t>
            </a:r>
          </a:p>
        </p:txBody>
      </p:sp>
    </p:spTree>
    <p:extLst>
      <p:ext uri="{BB962C8B-B14F-4D97-AF65-F5344CB8AC3E}">
        <p14:creationId xmlns:p14="http://schemas.microsoft.com/office/powerpoint/2010/main" val="1688512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CC35A746-CC51-4806-808D-6697067226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1165" y="0"/>
            <a:ext cx="73618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123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023CA02-72EC-40CE-9EE5-B2916574967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706" r="27105"/>
          <a:stretch/>
        </p:blipFill>
        <p:spPr>
          <a:xfrm>
            <a:off x="529134" y="1219683"/>
            <a:ext cx="3609047" cy="3977845"/>
          </a:xfrm>
          <a:prstGeom prst="rect">
            <a:avLst/>
          </a:prstGeom>
        </p:spPr>
      </p:pic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08799B2B-C6A1-416E-9AE0-CC0FE7BB75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7925" y="1219683"/>
            <a:ext cx="7562167" cy="435133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F65F9EC-C7A9-40B5-A47C-71E65CC710CB}"/>
              </a:ext>
            </a:extLst>
          </p:cNvPr>
          <p:cNvSpPr txBox="1">
            <a:spLocks/>
          </p:cNvSpPr>
          <p:nvPr/>
        </p:nvSpPr>
        <p:spPr>
          <a:xfrm>
            <a:off x="838200" y="74613"/>
            <a:ext cx="10515600" cy="60642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Coumarin(323) binding to BACE-1 (5QCU)</a:t>
            </a:r>
          </a:p>
        </p:txBody>
      </p:sp>
    </p:spTree>
    <p:extLst>
      <p:ext uri="{BB962C8B-B14F-4D97-AF65-F5344CB8AC3E}">
        <p14:creationId xmlns:p14="http://schemas.microsoft.com/office/powerpoint/2010/main" val="2600446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4786F75-0A16-4D30-B679-C73CFD2E2F6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805"/>
          <a:stretch/>
        </p:blipFill>
        <p:spPr>
          <a:xfrm>
            <a:off x="375983" y="1027906"/>
            <a:ext cx="3844226" cy="41037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FC950B-64B3-4E9E-8650-D56F26F20A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343" y="1027906"/>
            <a:ext cx="7389674" cy="404375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CA5108C-C31E-40C9-BFE8-96848AFAD74B}"/>
              </a:ext>
            </a:extLst>
          </p:cNvPr>
          <p:cNvSpPr txBox="1">
            <a:spLocks/>
          </p:cNvSpPr>
          <p:nvPr/>
        </p:nvSpPr>
        <p:spPr>
          <a:xfrm>
            <a:off x="838200" y="74613"/>
            <a:ext cx="10515600" cy="60642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Galantamine(9651) binding to BACE-1 (5QCU)</a:t>
            </a:r>
          </a:p>
        </p:txBody>
      </p:sp>
    </p:spTree>
    <p:extLst>
      <p:ext uri="{BB962C8B-B14F-4D97-AF65-F5344CB8AC3E}">
        <p14:creationId xmlns:p14="http://schemas.microsoft.com/office/powerpoint/2010/main" val="1722132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872005-1C2E-433E-A539-3AFF3A4CF8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5592" y="1333271"/>
            <a:ext cx="7554914" cy="419145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CCDA612-6CED-4A39-87FF-7620701A0D02}"/>
              </a:ext>
            </a:extLst>
          </p:cNvPr>
          <p:cNvSpPr txBox="1">
            <a:spLocks/>
          </p:cNvSpPr>
          <p:nvPr/>
        </p:nvSpPr>
        <p:spPr>
          <a:xfrm>
            <a:off x="838200" y="74613"/>
            <a:ext cx="10515600" cy="60642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Geraniol(637566) binding to BACE-1 (5QCU)</a:t>
            </a:r>
          </a:p>
        </p:txBody>
      </p:sp>
    </p:spTree>
    <p:extLst>
      <p:ext uri="{BB962C8B-B14F-4D97-AF65-F5344CB8AC3E}">
        <p14:creationId xmlns:p14="http://schemas.microsoft.com/office/powerpoint/2010/main" val="39721501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582</TotalTime>
  <Words>361</Words>
  <Application>Microsoft Office PowerPoint</Application>
  <PresentationFormat>Widescreen</PresentationFormat>
  <Paragraphs>49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Mangal</vt:lpstr>
      <vt:lpstr>Office Theme</vt:lpstr>
      <vt:lpstr>CADD training cohort-3 Assignment-2</vt:lpstr>
      <vt:lpstr>Task-1 Drug likeness scoring</vt:lpstr>
      <vt:lpstr>PowerPoint Presentation</vt:lpstr>
      <vt:lpstr>PowerPoint Presentation</vt:lpstr>
      <vt:lpstr>Geraniol</vt:lpstr>
      <vt:lpstr>Task-2 Molecular docking and Visualization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CADD training cohort-3 Assignment-1</dc:title>
  <dc:creator>Priyanka Rajan</dc:creator>
  <cp:lastModifiedBy>Priyanka Rajan</cp:lastModifiedBy>
  <cp:revision>20</cp:revision>
  <dcterms:created xsi:type="dcterms:W3CDTF">2026-04-07T16:26:35Z</dcterms:created>
  <dcterms:modified xsi:type="dcterms:W3CDTF">2026-04-19T12:09:24Z</dcterms:modified>
</cp:coreProperties>
</file>